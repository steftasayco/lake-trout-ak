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987"/>
    <p:restoredTop sz="94660"/>
  </p:normalViewPr>
  <p:slideViewPr>
    <p:cSldViewPr snapToGrid="0">
      <p:cViewPr varScale="1">
        <p:scale>
          <a:sx d="100" n="87"/>
          <a:sy d="100" n="87"/>
        </p:scale>
        <p:origin x="648" y="10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4" Type="http://schemas.microsoft.com/office/2016/11/relationships/changesInfo" Target="changesInfos/changesInfo1.xml" /><Relationship Id="rId13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5" Type="http://schemas.microsoft.com/office/2015/10/relationships/revisionInfo" Target="revisionInfo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674CB-3709-4ACF-BB61-29ADEA3D41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95693"/>
            <a:ext cx="9144000" cy="2478024"/>
          </a:xfrm>
        </p:spPr>
        <p:txBody>
          <a:bodyPr lIns="0" tIns="0" rIns="0" bIns="0" anchor="b">
            <a:noAutofit/>
          </a:bodyPr>
          <a:lstStyle>
            <a:lvl1pPr algn="ctr">
              <a:defRPr sz="4400" spc="75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6DA6BE-9B64-48FC-92D1-EF0D426A39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72080"/>
            <a:ext cx="9144000" cy="1435608"/>
          </a:xfr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50000"/>
              </a:lnSpc>
              <a:buNone/>
              <a:defRPr sz="2400" cap="all" spc="6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3AE59-8E21-449F-86DA-5BE297010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7474-823B-48E8-A178-386E6D02D7F9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CCD60-9970-49FD-8254-21154BAA1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0A488-07A7-42F9-B1DF-68545B754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2939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E0F35-0AE7-48AB-9005-F1DB4BD0B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76696"/>
            <a:ext cx="10241280" cy="123444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D4022-C31F-4C4C-B5BF-5F9730C08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90794"/>
            <a:ext cx="10241280" cy="39593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41D2B2-B7EA-75B2-AE5E-F6BE0D431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14B8F-CE2D-424D-AF0A-C48024A68703}" type="datetime2">
              <a:rPr lang="en-US" smtClean="0"/>
              <a:t>Sunday, March 15, 2026</a:t>
            </a:fld>
            <a:endParaRPr lang="en-US" cap="all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F1C7C6-AF6C-E40A-94F6-1C001C18B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5C2CCF-26D5-D13A-5F52-C045B09E9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‹#›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906150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C12CB-05D8-4D62-BDC5-812DB6DD0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1709738"/>
            <a:ext cx="9966960" cy="2852737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400" spc="7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52F020-8516-4B9E-B455-5731ED6C9E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4974336"/>
            <a:ext cx="9966961" cy="1115568"/>
          </a:xfrm>
        </p:spPr>
        <p:txBody>
          <a:bodyPr>
            <a:normAutofit/>
          </a:bodyPr>
          <a:lstStyle>
            <a:lvl1pPr marL="0" indent="0">
              <a:buNone/>
              <a:defRPr sz="1600" cap="all" spc="6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22993-6E28-44BB-B983-095B476B8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95F7C-483B-45C6-BFC8-E460EFA96477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09971-06C9-462B-81D9-BEF24C708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A076D-47C1-49CD-9A8B-956DB3FC3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6421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8DFBD-F5ED-455C-8AD0-97476A55E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6380"/>
            <a:ext cx="10241280" cy="1234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0E58C-F463-4D52-9225-9410133113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6265" y="1388125"/>
            <a:ext cx="5739788" cy="468349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F7BDB4-97FA-485D-A557-6F96692BA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66560" y="1388125"/>
            <a:ext cx="5175724" cy="491352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50007-C799-4117-8ACD-5EE980E63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FCF0B-5C8B-4F90-8DBC-1FCCD310983A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4E8968-6BAD-4D5A-BF1D-911C7A39C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9D8C08-BF20-4D5E-9004-0C075C36D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436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FD4EA0-094D-4056-9032-BFB44B4089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1005" y="3757200"/>
            <a:ext cx="4841076" cy="2539382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CE86DF-0069-4D31-BDD3-A9A2F9B7B4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818024" y="3757199"/>
            <a:ext cx="4841076" cy="2539383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A5ED06-FE54-4B86-A8D4-07D0EB08C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B7738-C0D5-4388-9F52-0B359ED750B3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9EC6C3-0950-4AFE-936A-9AB5D2278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84B1D1-BE0C-48F4-BC74-90675A0F0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D453288-3D76-40C1-BE00-223AB28F1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7377"/>
            <a:ext cx="10241280" cy="123444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BD188-68A5-7042-E91A-782C277EAB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3811" y="1536210"/>
            <a:ext cx="5892189" cy="2036767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19591E8D-121D-C1E5-9EE6-ADB1385B37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9811" y="1536210"/>
            <a:ext cx="5688378" cy="2036767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4478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B1716-24B0-42CD-95B6-843092597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E3617E-4B11-481F-AC6E-000317902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62429-2491-4ED4-A083-0B70E5B2B9FF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F19CC-06D3-40E9-81B5-63B457B22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EFC312-3AA5-46F7-B701-3D9327A68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054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C9E28E-1389-47AF-B3EB-22571417A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B963C-D443-40F4-97CC-8FE4DEBBB582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CF6B08-1984-4F7C-9F6E-A4F47BDBA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1B3C5-CEC7-427F-931C-1318C421B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205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EB55F-536E-4547-A5D2-0483FC368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146" y="-333356"/>
            <a:ext cx="5243885" cy="1894511"/>
          </a:xfrm>
        </p:spPr>
        <p:txBody>
          <a:bodyPr anchor="b"/>
          <a:lstStyle>
            <a:lvl1pPr algn="ctr"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17D3C-533B-4EA9-886B-FAE59956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0944" y="271806"/>
            <a:ext cx="6050943" cy="5819829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5A3535-184C-438C-AE91-9C42B7C5A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9F85B7-E7DB-4BA4-A3F5-C5FE55B08F95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F6DBC3-4A58-42BA-9B55-A9A725103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E6563-0AB6-4038-A12B-A259552DB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402DBDA-2555-3941-3E25-E035E1937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8518" y="1751682"/>
            <a:ext cx="5243513" cy="4339953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43851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02C5-1E3B-4C62-A538-59BB57286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987552"/>
            <a:ext cx="3932237" cy="1892808"/>
          </a:xfrm>
        </p:spPr>
        <p:txBody>
          <a:bodyPr anchor="b"/>
          <a:lstStyle>
            <a:lvl1pPr>
              <a:defRPr sz="3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2CF574-95CE-4E60-B2CF-3B5B4F33A7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05319" y="987425"/>
            <a:ext cx="5833242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039F7C-C735-4356-8B04-89E1904795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71600" y="3033286"/>
            <a:ext cx="3932237" cy="283570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E706DF-52A3-4F34-9BF5-E1ACD5D54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9A0C2-0448-4687-AEE4-71847FB40C42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B25E53-E72E-4110-BB6B-3477F56C3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86F8F-3D62-4CEC-AD9A-B70848E6A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03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DC3B6-2D75-4EC4-9120-88DCE0EA6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B06CB-A0FE-4499-B674-90C8C281A5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7FD700-765A-4DE6-A8EC-9D9D92FC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4246E-588A-4761-B86F-31A92ABCD4D5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4664EC-C4B1-4D14-9ED3-14C6CCBFF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F5526-E518-4133-9F44-D812576C1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738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62998-15B1-4CA8-8C60-7801001F80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38899"/>
            <a:ext cx="2628900" cy="48493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1AE278-0885-4594-AB09-120344C7D8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49235" y="838900"/>
            <a:ext cx="7723265" cy="4849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850CC-FB43-4988-8D4E-9C54C2018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9734-38C9-4A1D-A001-D47FFEDBBFBF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70300-3853-4FB4-A084-CF6E5CF2B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BAFB0-25AA-4B69-8418-418F47A92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9738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CF2F3BB-127D-44BC-A8EF-A8BB5F5911CA}"/>
              </a:ext>
            </a:extLst>
          </p:cNvPr>
          <p:cNvSpPr/>
          <p:nvPr/>
        </p:nvSpPr>
        <p:spPr>
          <a:xfrm flipH="1" rot="10800000">
            <a:off x="0" y="6401226"/>
            <a:ext cx="12192000" cy="456773"/>
          </a:xfrm>
          <a:prstGeom prst="rect">
            <a:avLst/>
          </a:prstGeom>
          <a:gradFill>
            <a:gsLst>
              <a:gs pos="14000">
                <a:schemeClr val="accent4">
                  <a:alpha val="28000"/>
                </a:schemeClr>
              </a:gs>
              <a:gs pos="100000">
                <a:schemeClr val="accent5">
                  <a:alpha val="8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0D1F30-F118-4A1F-A48F-7E5706959F64}"/>
              </a:ext>
            </a:extLst>
          </p:cNvPr>
          <p:cNvSpPr/>
          <p:nvPr/>
        </p:nvSpPr>
        <p:spPr>
          <a:xfrm flipH="1">
            <a:off x="4038602" y="6401228"/>
            <a:ext cx="8153398" cy="456772"/>
          </a:xfrm>
          <a:prstGeom prst="rect">
            <a:avLst/>
          </a:prstGeom>
          <a:gradFill>
            <a:gsLst>
              <a:gs pos="9000">
                <a:schemeClr val="accent2">
                  <a:lumMod val="60000"/>
                  <a:lumOff val="40000"/>
                  <a:alpha val="55000"/>
                </a:schemeClr>
              </a:gs>
              <a:gs pos="99000">
                <a:schemeClr val="accent2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AE890C-17CE-44C0-BDED-BA68F92A8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795528"/>
            <a:ext cx="10241280" cy="1234440"/>
          </a:xfrm>
          <a:prstGeom prst="rect">
            <a:avLst/>
          </a:prstGeom>
        </p:spPr>
        <p:txBody>
          <a:bodyPr anchor="b" bIns="0" lIns="0" rIns="0" rtlCol="0" tIns="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910A6E-46D1-42CF-996C-2207737FB871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1371600" y="2112264"/>
            <a:ext cx="10241280" cy="3959352"/>
          </a:xfrm>
          <a:prstGeom prst="rect">
            <a:avLst/>
          </a:prstGeom>
        </p:spPr>
        <p:txBody>
          <a:bodyPr bIns="0" lIns="0" rIns="0" rtlCol="0" tIns="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B5247-D236-462B-BCE0-2A24DF75B085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7909560" y="6409944"/>
            <a:ext cx="3703320" cy="448056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aseline="0" cap="all" spc="300" sz="800">
                <a:solidFill>
                  <a:srgbClr val="FFFFFF"/>
                </a:solidFill>
              </a:defRPr>
            </a:lvl1pPr>
          </a:lstStyle>
          <a:p>
            <a:fld id="{A6D14B8F-CE2D-424D-AF0A-C48024A68703}" type="datetime2">
              <a:rPr lang="en-US" smtClean="0"/>
              <a:t>Sunday, March 15, 2026</a:t>
            </a:fld>
            <a:endParaRPr cap="all" dirty="0"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55C58-7DDF-4CD4-96AD-F9CC844D84CC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 rot="5400000">
            <a:off x="-1828800" y="1911096"/>
            <a:ext cx="4114800" cy="45720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1" sz="800">
                <a:solidFill>
                  <a:schemeClr val="tx1"/>
                </a:solidFill>
                <a:latin typeface="+mj-lt"/>
              </a:defRPr>
            </a:lvl1pPr>
          </a:lstStyle>
          <a:p>
            <a:pPr algn="l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495647-A849-45D9-BC71-46A12E6DE479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1667744" y="6409944"/>
            <a:ext cx="438912" cy="448056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C01389E6-C847-4AD0-B56D-D205B2EAB1EE}" type="slidenum">
              <a:rPr lang="en-US" smtClean="0"/>
              <a:pPr/>
              <a:t>‹#›</a:t>
            </a:fld>
            <a:endParaRPr dirty="0" lang="en-US" sz="800"/>
          </a:p>
        </p:txBody>
      </p:sp>
    </p:spTree>
    <p:extLst>
      <p:ext uri="{BB962C8B-B14F-4D97-AF65-F5344CB8AC3E}">
        <p14:creationId xmlns:p14="http://schemas.microsoft.com/office/powerpoint/2010/main" val="4082366308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lvl1pPr algn="l" defTabSz="914400" eaLnBrk="1" hangingPunct="1" latinLnBrk="0" rtl="0">
        <a:lnSpc>
          <a:spcPct val="100000"/>
        </a:lnSpc>
        <a:spcBef>
          <a:spcPct val="0"/>
        </a:spcBef>
        <a:buNone/>
        <a:defRPr b="1" baseline="0" cap="all" i="0" kern="1200" spc="700" sz="36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2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12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12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12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12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3.xml" /><Relationship Id="rId4" Type="http://schemas.openxmlformats.org/officeDocument/2006/relationships/slide" Target="slide4.xml" /><Relationship Id="rId5" Type="http://schemas.openxmlformats.org/officeDocument/2006/relationships/slide" Target="slide5.xml" /><Relationship Id="rId6" Type="http://schemas.openxmlformats.org/officeDocument/2006/relationships/slide" Target="slide6.xml" /><Relationship Id="rId7" Type="http://schemas.openxmlformats.org/officeDocument/2006/relationships/slide" Target="slide6.xml" /><Relationship Id="rId8" Type="http://schemas.openxmlformats.org/officeDocument/2006/relationships/slide" Target="slide7.xml" /><Relationship Id="rId9" Type="http://schemas.openxmlformats.org/officeDocument/2006/relationships/slide" Target="slide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tefTasayco/Lake-Trout-AK.git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en.wikipedia.org/wiki/Von_Bertalanffy_function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674CB-3709-4ACF-BB61-29ADEA3D41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95693"/>
            <a:ext cx="9144000" cy="247802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Stef’s Updates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6DA6BE-9B64-48FC-92D1-EF0D426A3974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72080"/>
            <a:ext cx="9144000" cy="143560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March 9 - March 14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3AE59-8E21-449F-86DA-5BE297010864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2026-03-16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0A488-07A7-42F9-B1DF-68545B75417D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E0F35-0AE7-48AB-9005-F1DB4BD0B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76696"/>
            <a:ext cx="10241280" cy="12344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D4022-C31F-4C4C-B5BF-5F9730C08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Code Accessibility</a:t>
            </a:r>
          </a:p>
          <a:p>
            <a:pPr lvl="1"/>
            <a:r>
              <a:rPr u="sng">
                <a:hlinkClick r:id="rId3" action="ppaction://hlinksldjump"/>
              </a:rPr>
              <a:t>Working on GitHub to keep everything in one place</a:t>
            </a:r>
          </a:p>
          <a:p>
            <a:pPr lvl="0"/>
            <a:r>
              <a:rPr>
                <a:hlinkClick r:id="rId4" action="ppaction://hlinksldjump"/>
              </a:rPr>
              <a:t>Lake Trout Age-Weight</a:t>
            </a:r>
          </a:p>
          <a:p>
            <a:pPr lvl="0"/>
            <a:r>
              <a:rPr>
                <a:hlinkClick r:id="rId5" action="ppaction://hlinksldjump"/>
              </a:rPr>
              <a:t>Boxplots of weight at age</a:t>
            </a:r>
          </a:p>
          <a:p>
            <a:pPr lvl="0"/>
            <a:r>
              <a:rPr>
                <a:hlinkClick r:id="rId6" action="ppaction://hlinksldjump"/>
              </a:rPr>
              <a:t>General lake trout per lake</a:t>
            </a:r>
          </a:p>
          <a:p>
            <a:pPr lvl="1"/>
            <a:r>
              <a:rPr>
                <a:hlinkClick r:id="rId7" action="ppaction://hlinksldjump"/>
              </a:rPr>
              <a:t>Lake Clark</a:t>
            </a:r>
          </a:p>
          <a:p>
            <a:pPr lvl="0"/>
            <a:r>
              <a:rPr>
                <a:hlinkClick r:id="rId8" action="ppaction://hlinksldjump"/>
              </a:rPr>
              <a:t>FB4 Output</a:t>
            </a:r>
          </a:p>
          <a:p>
            <a:pPr lvl="0"/>
            <a:r>
              <a:rPr>
                <a:hlinkClick r:id="rId9" action="ppaction://hlinksldjump"/>
              </a:rPr>
              <a:t>References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5C2CCF-26D5-D13A-5F52-C045B09E9913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‹#›</a:t>
            </a:fld>
            <a:endParaRPr dirty="0" lang="en-US" sz="800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E0F35-0AE7-48AB-9005-F1DB4BD0B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76696"/>
            <a:ext cx="10241280" cy="12344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Code Accessibility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D4022-C31F-4C4C-B5BF-5F9730C08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 u="sng"/>
              <a:t>Working on GitHub to keep everything in one place</a:t>
            </a:r>
          </a:p>
          <a:p>
            <a:pPr lvl="0"/>
            <a:r>
              <a:rPr/>
              <a:t>Using R version 4.5.2 (2025-10-31 ucrt).</a:t>
            </a:r>
          </a:p>
          <a:p>
            <a:pPr lvl="1"/>
            <a:r>
              <a:rPr/>
              <a:t>Quarto is being used to create slides. This way, the R code for all plots in this presentation can be accessed at all times. The code is embedded in the pptx file, but they are not shown (see below).</a:t>
            </a:r>
          </a:p>
          <a:p>
            <a:pPr lvl="0"/>
            <a:r>
              <a:rPr/>
              <a:t>View the code and download the data used for this presentation in the GitHub repository: </a:t>
            </a:r>
            <a:r>
              <a:rPr>
                <a:hlinkClick r:id="rId2"/>
              </a:rPr>
              <a:t>https://github.com/StefTasayco/Lake-Trout-AK.git</a:t>
            </a:r>
          </a:p>
          <a:p>
            <a:pPr lvl="1"/>
            <a:r>
              <a:rPr/>
              <a:t>The file name is “Age-weight.qmd”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5C2CCF-26D5-D13A-5F52-C045B09E9913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‹#›</a:t>
            </a:fld>
            <a:endParaRPr dirty="0" lang="en-US" sz="800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D453288-3D76-40C1-BE00-223AB28F1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7377"/>
            <a:ext cx="10241280" cy="12344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Lake Trout Age-Weight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BD188-68A5-7042-E91A-782C277EAB2A}"/>
              </a:ext>
            </a:extLst>
          </p:cNvPr>
          <p:cNvSpPr>
            <a:spLocks noGrp="1"/>
          </p:cNvSpPr>
          <p:nvPr>
            <p:ph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Boxplots of weight at age</a:t>
            </a:r>
            <a:r>
              <a:rPr/>
              <a:t> capture the range of possible model input values.</a:t>
            </a:r>
          </a:p>
          <a:p>
            <a:pPr lvl="0" indent="0" marL="0">
              <a:buNone/>
            </a:pPr>
            <a:r>
              <a:rPr/>
              <a:t>This analysis contributes to the approach that we discussed during the last Lake Trout team meeting where:</a:t>
            </a:r>
          </a:p>
          <a:p>
            <a:pPr lvl="0"/>
            <a:r>
              <a:rPr/>
              <a:t>We combine all available lake trout data and pick an age that has robust data (e.g. 10, 20, 30).</a:t>
            </a:r>
          </a:p>
          <a:p>
            <a:pPr lvl="1"/>
            <a:r>
              <a:rPr/>
              <a:t>Lake trout follow the </a:t>
            </a:r>
            <a:r>
              <a:rPr>
                <a:hlinkClick r:id="rId2"/>
              </a:rPr>
              <a:t>von Bertalanffy growth model</a:t>
            </a:r>
            <a:r>
              <a:rPr/>
              <a:t> (VBGM). aka their growth should plateau as they grow older.</a:t>
            </a:r>
          </a:p>
          <a:p>
            <a:pPr lvl="1"/>
            <a:r>
              <a:rPr/>
              <a:t>Therefore, we expect that age 10 lake trout will have a higher growth and consumption rate than age 30 lake trout.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19591E8D-121D-C1E5-9EE6-ADB1385B37B2}"/>
              </a:ext>
            </a:extLst>
          </p:cNvPr>
          <p:cNvSpPr>
            <a:spLocks noGrp="1"/>
          </p:cNvSpPr>
          <p:nvPr>
            <p:ph idx="14" sz="quarter" type="body"/>
          </p:nvPr>
        </p:nvSpPr>
        <p:spPr/>
        <p:txBody>
          <a:bodyPr/>
          <a:lstStyle/>
          <a:p>
            <a:pPr lvl="0"/>
            <a:r>
              <a:rPr/>
              <a:t>The design profiles (one per age) are made using median and quartile weights for each age.</a:t>
            </a:r>
          </a:p>
          <a:p>
            <a:pPr lvl="1"/>
            <a:r>
              <a:rPr/>
              <a:t>Run names for these design profiles are shown in the table.</a:t>
            </a:r>
          </a:p>
          <a:p>
            <a:pPr lvl="0"/>
            <a:r>
              <a:rPr/>
              <a:t>These weight ranges represent our “generic lake trout” to use for all lakes.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807200" y="3746500"/>
          <a:ext cx="4838700" cy="252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/>
                <a:gridCol w="24130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Run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age_xx_med_med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typical growth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age_xx_q1_q1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steady growth at the low end of their mass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age_xx_q3_q3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steady growth at the upper end of their mass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age_xx_q1_q3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rapid growth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age_xx_q3_q1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 loss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84B1D1-BE0C-48F4-BC74-90675A0F07CF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8DFBD-F5ED-455C-8AD0-97476A55E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6380"/>
            <a:ext cx="10241280" cy="12344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 of weight at age</a:t>
            </a:r>
          </a:p>
        </p:txBody>
      </p:sp>
      <p:pic>
        <p:nvPicPr>
          <p:cNvPr descr="plots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816100"/>
            <a:ext cx="5727700" cy="382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pics/summary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213600" y="1384300"/>
            <a:ext cx="4267200" cy="490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9D8C08-BF20-4D5E-9004-0C075C36D8A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EB55F-536E-4547-A5D2-0483FC368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146" y="-333356"/>
            <a:ext cx="5243885" cy="1894511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General lake trout per lake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402DBDA-2555-3941-3E25-E035E1937610}"/>
              </a:ext>
            </a:extLst>
          </p:cNvPr>
          <p:cNvSpPr>
            <a:spLocks noGrp="1"/>
          </p:cNvSpPr>
          <p:nvPr>
            <p:ph idx="1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Lake Clark</a:t>
            </a:r>
          </a:p>
          <a:p>
            <a:pPr lvl="0"/>
            <a:r>
              <a:rPr/>
              <a:t>The first design profile was made using surface water temperatures from Lake Clark. A new temperature profile was made for Lake CLark to include all surface temperatures from all years.</a:t>
            </a:r>
          </a:p>
          <a:p>
            <a:pPr lvl="0"/>
            <a:r>
              <a:rPr/>
              <a:t>The mean temperature for each day of year was taken and used for the temperature file. 9C becomes available on May 22nd and ends on Dec. 21st.</a:t>
            </a:r>
          </a:p>
          <a:p>
            <a:pPr lvl="1"/>
            <a:r>
              <a:rPr/>
              <a:t>May 22 -Dec 21 the temperature was set to 9C.</a:t>
            </a:r>
          </a:p>
          <a:p>
            <a:pPr lvl="1"/>
            <a:r>
              <a:rPr/>
              <a:t>All other days = mean surface temperatures from full dataset.</a:t>
            </a:r>
          </a:p>
        </p:txBody>
      </p:sp>
      <p:pic>
        <p:nvPicPr>
          <p:cNvPr descr="plots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5200" y="1155700"/>
            <a:ext cx="6045200" cy="402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E6563-0AB6-4038-A12B-A259552DB66C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E0F35-0AE7-48AB-9005-F1DB4BD0B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76696"/>
            <a:ext cx="10241280" cy="12344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FB4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D4022-C31F-4C4C-B5BF-5F9730C08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two plots do not support my initial assumption that younger lake trout have a higher growth rates. Age 6 has the lowest growth rate, while age 23 has the highest growth rate.</a:t>
            </a:r>
          </a:p>
          <a:p>
            <a:pPr lvl="0"/>
            <a:r>
              <a:rPr/>
              <a:t>The interpretations for each run name is consistent with their p-values. For example:</a:t>
            </a:r>
          </a:p>
          <a:p>
            <a:pPr lvl="1"/>
            <a:r>
              <a:rPr/>
              <a:t>age_14_med_med (typical growth) p-value = 0.33083</a:t>
            </a:r>
          </a:p>
          <a:p>
            <a:pPr lvl="1"/>
            <a:r>
              <a:rPr/>
              <a:t>age_14_q1_q1 (steady growth at the low end of their mass) p-value = 0.381905</a:t>
            </a:r>
          </a:p>
          <a:p>
            <a:pPr lvl="1"/>
            <a:r>
              <a:rPr/>
              <a:t>age_14_q3_q3 (steady growth at the upper end of their mass) p-value = 0.351765</a:t>
            </a:r>
          </a:p>
          <a:p>
            <a:pPr lvl="1"/>
            <a:r>
              <a:rPr/>
              <a:t>age_14_q1_q3 (rapid growth) = 0.668207</a:t>
            </a:r>
          </a:p>
          <a:p>
            <a:pPr lvl="1"/>
            <a:r>
              <a:rPr/>
              <a:t>age_14_q3_q1 (mass loss) = 0.086254</a:t>
            </a:r>
          </a:p>
          <a:p>
            <a:pPr lvl="0" indent="0" marL="0">
              <a:buNone/>
            </a:pPr>
          </a:p>
          <a:p>
            <a:pPr lvl="0"/>
            <a:r>
              <a:rPr/>
              <a:t>Next steps:</a:t>
            </a:r>
          </a:p>
          <a:p>
            <a:pPr lvl="0"/>
            <a:r>
              <a:rPr/>
              <a:t>Creating temp profiles for Kijik Lake and Chelle Lake using same methods as above.</a:t>
            </a:r>
          </a:p>
          <a:p>
            <a:pPr lvl="0"/>
            <a:r>
              <a:rPr/>
              <a:t>Calculating growing degree days (GDD) for each lake and using GDD as a predictor variable to compare FB4 outputs (each output represents a lake)</a:t>
            </a:r>
          </a:p>
          <a:p>
            <a:pPr lvl="0"/>
            <a:r>
              <a:rPr/>
              <a:t>Looking through new temp data that Krista sent and plotting a thermocline for Lake Clark, Kijik, and Chelle first.</a:t>
            </a:r>
          </a:p>
          <a:p>
            <a:pPr lvl="0"/>
            <a:r>
              <a:rPr/>
              <a:t>Keep looking around in literature for more diet data. I’ve been using the same diet schedule and I want to play around with the diets more.</a:t>
            </a:r>
          </a:p>
          <a:p>
            <a:pPr lvl="0" indent="0" marL="0">
              <a:buNone/>
            </a:p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5C2CCF-26D5-D13A-5F52-C045B09E9913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‹#›</a:t>
            </a:fld>
            <a:endParaRPr dirty="0" lang="en-US" sz="800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E0F35-0AE7-48AB-9005-F1DB4BD0B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76696"/>
            <a:ext cx="10241280" cy="12344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5C2CCF-26D5-D13A-5F52-C045B09E9913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‹#›</a:t>
            </a:fld>
            <a:endParaRPr dirty="0" lang="en-US" sz="800"/>
          </a:p>
        </p:txBody>
      </p:sp>
    </p:spTree>
  </p:cSld>
</p:sld>
</file>

<file path=ppt/theme/theme1.xml><?xml version="1.0" encoding="utf-8"?>
<a:theme xmlns:a="http://schemas.openxmlformats.org/drawingml/2006/main" name="mytemplat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RiseVTI" id="{C2FC082F-B444-4222-AF20-78444CCB5722}" vid="{39F213E4-0CBC-40CB-B3F6-8C5562B6B9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Gradient rise</Template>
  <TotalTime>44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mytemplate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Stef’s Updates</dc:title>
  <dc:creator/>
  <cp:keywords/>
  <dcterms:created xsi:type="dcterms:W3CDTF">2026-03-17T03:44:44Z</dcterms:created>
  <dcterms:modified xsi:type="dcterms:W3CDTF">2026-03-17T03:44:44Z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references.bib</vt:lpwstr>
  </property>
  <property fmtid="{D5CDD505-2E9C-101B-9397-08002B2CF9AE}" pid="4" name="crossref">
    <vt:lpwstr/>
  </property>
  <property fmtid="{D5CDD505-2E9C-101B-9397-08002B2CF9AE}" pid="5" name="date">
    <vt:lpwstr>2026-03-16</vt:lpwstr>
  </property>
  <property fmtid="{D5CDD505-2E9C-101B-9397-08002B2CF9AE}" pid="6" name="editor">
    <vt:lpwstr>source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subtitle">
    <vt:lpwstr>March 9 - March 14</vt:lpwstr>
  </property>
  <property fmtid="{D5CDD505-2E9C-101B-9397-08002B2CF9AE}" pid="14" name="toc-title">
    <vt:lpwstr>Table of contents</vt:lpwstr>
  </property>
</Properties>
</file>