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693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2080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24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7474-823B-48E8-A178-386E6D02D7F9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3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90794"/>
            <a:ext cx="10241280" cy="39593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1D2B2-B7EA-75B2-AE5E-F6BE0D43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4B8F-CE2D-424D-AF0A-C48024A68703}" type="datetime2">
              <a:rPr lang="en-US" smtClean="0"/>
              <a:t>Monday, March 16, 2026</a:t>
            </a:fld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1C7C6-AF6C-E40A-94F6-1C001C18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5F7C-483B-45C6-BFC8-E460EFA96477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4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6380"/>
            <a:ext cx="1024128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6265" y="1388125"/>
            <a:ext cx="5739788" cy="46834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1388125"/>
            <a:ext cx="5175724" cy="49135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CF0B-5C8B-4F90-8DBC-1FCCD310983A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005" y="3757200"/>
            <a:ext cx="4841076" cy="253938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18024" y="3757199"/>
            <a:ext cx="4841076" cy="2539383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7738-C0D5-4388-9F52-0B359ED750B3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377"/>
            <a:ext cx="10241280" cy="12344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BD188-68A5-7042-E91A-782C277EAB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811" y="1536210"/>
            <a:ext cx="5892189" cy="203676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9591E8D-121D-C1E5-9EE6-ADB1385B37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9811" y="1536210"/>
            <a:ext cx="5688378" cy="203676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62429-2491-4ED4-A083-0B70E5B2B9FF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5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963C-D443-40F4-97CC-8FE4DEBBB582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46" y="-333356"/>
            <a:ext cx="5243885" cy="1894511"/>
          </a:xfrm>
        </p:spPr>
        <p:txBody>
          <a:bodyPr anchor="b"/>
          <a:lstStyle>
            <a:lvl1pPr algn="ctr"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944" y="271806"/>
            <a:ext cx="6050943" cy="58198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85B7-E7DB-4BA4-A3F5-C5FE55B08F95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02DBDA-2555-3941-3E25-E035E1937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518" y="1751682"/>
            <a:ext cx="5243513" cy="43399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9A0C2-0448-4687-AEE4-71847FB40C42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246E-588A-4761-B86F-31A92ABCD4D5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9734-38C9-4A1D-A001-D47FFEDBBFBF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6D14B8F-CE2D-424D-AF0A-C48024A68703}" type="datetime2">
              <a:rPr lang="en-US" smtClean="0"/>
              <a:t>Monday, March 16,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efTasayco/Lake-Trout-AK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Von_Bertalanffy_function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693"/>
            <a:ext cx="9144000" cy="2478024"/>
          </a:xfrm>
        </p:spPr>
        <p:txBody>
          <a:bodyPr/>
          <a:lstStyle/>
          <a:p>
            <a:pPr marL="0" lvl="0" indent="0">
              <a:buNone/>
            </a:pPr>
            <a:r>
              <a:t>Stef’s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2080"/>
            <a:ext cx="9144000" cy="143560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March 9 - March 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2026-03-16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Code Accessibility</a:t>
            </a:r>
          </a:p>
          <a:p>
            <a:pPr lvl="1"/>
            <a:r>
              <a:rPr u="sng">
                <a:hlinkClick r:id="rId2" action="ppaction://hlinksldjump"/>
              </a:rPr>
              <a:t>Working on GitHub to keep everything in one place</a:t>
            </a:r>
          </a:p>
          <a:p>
            <a:pPr lvl="0"/>
            <a:r>
              <a:rPr>
                <a:hlinkClick r:id="rId3" action="ppaction://hlinksldjump"/>
              </a:rPr>
              <a:t>Lake Trout Age-Weight</a:t>
            </a:r>
          </a:p>
          <a:p>
            <a:pPr lvl="0"/>
            <a:r>
              <a:rPr>
                <a:hlinkClick r:id="rId4" action="ppaction://hlinksldjump"/>
              </a:rPr>
              <a:t>Boxplots of weight at age</a:t>
            </a:r>
          </a:p>
          <a:p>
            <a:pPr lvl="0"/>
            <a:r>
              <a:rPr>
                <a:hlinkClick r:id="rId5" action="ppaction://hlinksldjump"/>
              </a:rPr>
              <a:t>General lake trout per lake</a:t>
            </a:r>
          </a:p>
          <a:p>
            <a:pPr lvl="1"/>
            <a:r>
              <a:rPr>
                <a:hlinkClick r:id="rId5" action="ppaction://hlinksldjump"/>
              </a:rPr>
              <a:t>Lake Clark</a:t>
            </a:r>
          </a:p>
          <a:p>
            <a:pPr lvl="0"/>
            <a:r>
              <a:rPr>
                <a:hlinkClick r:id="rId6" action="ppaction://hlinksldjump"/>
              </a:rPr>
              <a:t>FB4 Output</a:t>
            </a:r>
          </a:p>
          <a:p>
            <a:pPr lvl="0"/>
            <a:r>
              <a:rPr>
                <a:hlinkClick r:id="rId7" action="ppaction://hlinksldjump"/>
              </a:rPr>
              <a:t>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2</a:t>
            </a:fld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t>Code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u="sng"/>
              <a:t>Working on GitHub to keep everything in one place</a:t>
            </a:r>
          </a:p>
          <a:p>
            <a:pPr lvl="0"/>
            <a:r>
              <a:t>Using R version 4.5.2 (2025-10-31 ucrt).</a:t>
            </a:r>
          </a:p>
          <a:p>
            <a:pPr lvl="1"/>
            <a:r>
              <a:t>Quarto is being used to create slides. This way, the R code for all plots in this presentation can be accessed at all times. The code is embedded in the pptx file, but they are not shown (see below).</a:t>
            </a:r>
          </a:p>
          <a:p>
            <a:pPr lvl="0"/>
            <a:r>
              <a:t>View the code and download the data used for this presentation in the GitHub repository: </a:t>
            </a:r>
            <a:r>
              <a:rPr>
                <a:hlinkClick r:id="rId2"/>
              </a:rPr>
              <a:t>https://github.com/StefTasayco/Lake-Trout-AK.git</a:t>
            </a:r>
          </a:p>
          <a:p>
            <a:pPr lvl="1"/>
            <a:r>
              <a:t>The file name is “Age-weight.qmd”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3</a:t>
            </a:fld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377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t>Lake Trout Age-Weight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BD188-68A5-7042-E91A-782C277EAB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/>
              <a:t>Boxplots of weight at age</a:t>
            </a:r>
            <a:r>
              <a:t> capture the range of possible model input values.</a:t>
            </a:r>
          </a:p>
          <a:p>
            <a:pPr marL="0" lvl="0" indent="0">
              <a:buNone/>
            </a:pPr>
            <a:r>
              <a:t>This analysis contributes to the approach that we discussed during the last Lake Trout team meeting where:</a:t>
            </a:r>
          </a:p>
          <a:p>
            <a:pPr lvl="0"/>
            <a:r>
              <a:t>We combine all available lake trout data and pick an age that has robust data (e.g. 10, 20, 30).</a:t>
            </a:r>
          </a:p>
          <a:p>
            <a:pPr lvl="1"/>
            <a:r>
              <a:t>Lake trout follow the </a:t>
            </a:r>
            <a:r>
              <a:rPr>
                <a:hlinkClick r:id="rId2"/>
              </a:rPr>
              <a:t>von Bertalanffy growth model</a:t>
            </a:r>
            <a:r>
              <a:t> (VBGM). aka their growth should plateau as they grow older.</a:t>
            </a:r>
          </a:p>
          <a:p>
            <a:pPr lvl="1"/>
            <a:r>
              <a:t>Therefore, we expect that age 10 lake trout will have a higher growth and consumption rate than age 30 lake trout.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9591E8D-121D-C1E5-9EE6-ADB1385B37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t>The design profiles (one per age) are made using median and quartile weights for each age.</a:t>
            </a:r>
          </a:p>
          <a:p>
            <a:pPr lvl="1"/>
            <a:r>
              <a:t>Run names for these design profiles are shown in the table.</a:t>
            </a:r>
          </a:p>
          <a:p>
            <a:pPr lvl="0"/>
            <a:r>
              <a:t>These weight ranges represent our “generic lake trout” to use for all lakes.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07200" y="3746500"/>
          <a:ext cx="4826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Run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age_xx_med_med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typical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age_xx_q1_q1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steady growth at the low end of their mass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age_xx_q3_q3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steady growth at the upper end of their mass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age_xx_q1_q3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rapid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age_xx_q3_q1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mass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444685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t>Boxplots of weight at age</a:t>
            </a:r>
          </a:p>
        </p:txBody>
      </p:sp>
      <p:pic>
        <p:nvPicPr>
          <p:cNvPr id="3" name="Picture 1" descr="plots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325033"/>
            <a:ext cx="5727700" cy="382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1" descr="pics/summary_stat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213600" y="783168"/>
            <a:ext cx="4267200" cy="490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D6F96-1A41-9CB0-1291-247F58D27817}"/>
              </a:ext>
            </a:extLst>
          </p:cNvPr>
          <p:cNvSpPr txBox="1"/>
          <p:nvPr/>
        </p:nvSpPr>
        <p:spPr>
          <a:xfrm>
            <a:off x="6747934" y="5748863"/>
            <a:ext cx="5147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table shows summary stats of weight (g) at lake trout age. </a:t>
            </a:r>
            <a:r>
              <a:rPr lang="en-US" sz="1200" dirty="0">
                <a:solidFill>
                  <a:srgbClr val="FF0000"/>
                </a:solidFill>
              </a:rPr>
              <a:t>The red boxes show the ages I chose (based on robustness of data) for initial and final weight inputs.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14B68E-BDFF-3992-6831-AA5218DEBFF0}"/>
              </a:ext>
            </a:extLst>
          </p:cNvPr>
          <p:cNvSpPr txBox="1"/>
          <p:nvPr/>
        </p:nvSpPr>
        <p:spPr>
          <a:xfrm>
            <a:off x="1405467" y="5139263"/>
            <a:ext cx="5147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lake trout data, from all year and all lakes, was combined to make this boxplot.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46" y="-333356"/>
            <a:ext cx="5243885" cy="1894511"/>
          </a:xfrm>
        </p:spPr>
        <p:txBody>
          <a:bodyPr/>
          <a:lstStyle/>
          <a:p>
            <a:pPr marL="0" lvl="0" indent="0">
              <a:buNone/>
            </a:pPr>
            <a:r>
              <a:t>General lake trout per lake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02DBDA-2555-3941-3E25-E035E1937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Lake Clark</a:t>
            </a:r>
          </a:p>
          <a:p>
            <a:pPr lvl="0"/>
            <a:r>
              <a:t>The first design profile was made using surface water temperatures from Lake Clark. A new temperature profile was made for Lake CLark to include all surface temperatures from all years.</a:t>
            </a:r>
          </a:p>
          <a:p>
            <a:pPr lvl="0"/>
            <a:r>
              <a:t>The mean temperature for each day of year was taken and used for the temperature file. 9C becomes available on May 22nd and ends on Dec. 21st.</a:t>
            </a:r>
          </a:p>
          <a:p>
            <a:pPr lvl="1"/>
            <a:r>
              <a:t>May 22 -Dec 21 the temperature was set to 9C.</a:t>
            </a:r>
          </a:p>
          <a:p>
            <a:pPr lvl="1"/>
            <a:r>
              <a:t>All other days = mean surface temperatures from full dataset.</a:t>
            </a:r>
          </a:p>
        </p:txBody>
      </p:sp>
      <p:pic>
        <p:nvPicPr>
          <p:cNvPr id="3" name="Picture 1" descr="plots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45200" y="1155700"/>
            <a:ext cx="6045200" cy="402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424423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FB4 Output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BD188-68A5-7042-E91A-782C277EAB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811" y="858874"/>
            <a:ext cx="5892189" cy="203676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100" dirty="0"/>
              <a:t>Key takeaways:</a:t>
            </a:r>
          </a:p>
          <a:p>
            <a:pPr lvl="0"/>
            <a:r>
              <a:rPr sz="1100" dirty="0"/>
              <a:t>These two plots do not support my initial assumption that younger lake trout have a higher growth rates. Age 6 has the lowest growth rate, while age 23 has the highest growth rate.</a:t>
            </a:r>
          </a:p>
          <a:p>
            <a:pPr lvl="0"/>
            <a:r>
              <a:rPr sz="1100" dirty="0"/>
              <a:t>The interpretations for each run name is consistent with their p-values. For example:</a:t>
            </a:r>
          </a:p>
          <a:p>
            <a:pPr lvl="1"/>
            <a:r>
              <a:rPr sz="1100" dirty="0"/>
              <a:t>age_14_med_med (typical growth) p-value = 0.33083</a:t>
            </a:r>
          </a:p>
          <a:p>
            <a:pPr lvl="1"/>
            <a:r>
              <a:rPr sz="1100" dirty="0"/>
              <a:t>age_14_q1_q1 (steady growth at the low end of their mass) p-value = 0.381905</a:t>
            </a:r>
          </a:p>
          <a:p>
            <a:pPr lvl="1"/>
            <a:r>
              <a:rPr sz="1100" dirty="0"/>
              <a:t>age_14_q3_q3 (steady growth at the upper end of their mass) p-value = 0.351765</a:t>
            </a:r>
          </a:p>
          <a:p>
            <a:pPr lvl="1"/>
            <a:r>
              <a:rPr sz="1100" dirty="0"/>
              <a:t>age_14_q1_q3 (rapid growth) = 0.668207</a:t>
            </a:r>
          </a:p>
          <a:p>
            <a:pPr lvl="1"/>
            <a:r>
              <a:rPr sz="1100" dirty="0"/>
              <a:t>age_14_q3_q1 (mass loss) = 0.086254</a:t>
            </a:r>
          </a:p>
        </p:txBody>
      </p:sp>
      <p:pic>
        <p:nvPicPr>
          <p:cNvPr id="2" name="Picture 1" descr="plots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3429000"/>
            <a:ext cx="4260052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9591E8D-121D-C1E5-9EE6-ADB1385B37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9811" y="1206007"/>
            <a:ext cx="5688378" cy="203676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dirty="0"/>
              <a:t>Next steps:</a:t>
            </a:r>
          </a:p>
          <a:p>
            <a:pPr lvl="1"/>
            <a:r>
              <a:rPr dirty="0"/>
              <a:t>Creating temp profiles for </a:t>
            </a:r>
            <a:r>
              <a:rPr dirty="0" err="1"/>
              <a:t>Kijik</a:t>
            </a:r>
            <a:r>
              <a:rPr dirty="0"/>
              <a:t> Lake and Chelle Lake using same methods as above.</a:t>
            </a:r>
          </a:p>
          <a:p>
            <a:pPr lvl="1"/>
            <a:r>
              <a:rPr dirty="0"/>
              <a:t>Calculating growing degree days (GDD) for each lake and using GDD as a predictor variable to compare FB4 outputs (each output represents a lake)</a:t>
            </a:r>
          </a:p>
          <a:p>
            <a:pPr lvl="1"/>
            <a:r>
              <a:rPr dirty="0"/>
              <a:t>Looking through new temp data that Krista sent and plotting a thermocline for Lake Clark, </a:t>
            </a:r>
            <a:r>
              <a:rPr dirty="0" err="1"/>
              <a:t>Kijik</a:t>
            </a:r>
            <a:r>
              <a:rPr dirty="0"/>
              <a:t>, and Chelle first.</a:t>
            </a:r>
          </a:p>
          <a:p>
            <a:pPr lvl="1"/>
            <a:r>
              <a:rPr dirty="0"/>
              <a:t>Keep looking around in literature for more diet data. I’ve been using the same diet </a:t>
            </a:r>
            <a:r>
              <a:rPr lang="en-US" dirty="0"/>
              <a:t>schedule,</a:t>
            </a:r>
            <a:r>
              <a:rPr dirty="0"/>
              <a:t> and I want to play around with the diets more.</a:t>
            </a:r>
          </a:p>
        </p:txBody>
      </p:sp>
      <p:pic>
        <p:nvPicPr>
          <p:cNvPr id="3" name="Picture 1" descr="plots/unnamed-chunk-7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52448" y="3429000"/>
            <a:ext cx="4260052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8</a:t>
            </a:fld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mytemplate</vt:lpstr>
      <vt:lpstr>Stef’s Updates</vt:lpstr>
      <vt:lpstr>Table of contents</vt:lpstr>
      <vt:lpstr>Code Accessibility</vt:lpstr>
      <vt:lpstr>Lake Trout Age-Weight</vt:lpstr>
      <vt:lpstr>Boxplots of weight at age</vt:lpstr>
      <vt:lpstr>General lake trout per lake</vt:lpstr>
      <vt:lpstr>FB4 Output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Gradient rise</Template>
  <TotalTime>44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mytemplate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Stef’s Updates</dc:title>
  <dc:creator>Stefannia Tasayco</dc:creator>
  <cp:keywords/>
  <cp:lastModifiedBy>Stefannia Tasayco</cp:lastModifiedBy>
  <cp:revision>1</cp:revision>
  <dcterms:created xsi:type="dcterms:W3CDTF">2026-03-17T03:55:46Z</dcterms:created>
  <dcterms:modified xsi:type="dcterms:W3CDTF">2026-03-17T04:02:57Z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references.bib</vt:lpwstr>
  </property>
  <property fmtid="{D5CDD505-2E9C-101B-9397-08002B2CF9AE}" pid="4" name="crossref">
    <vt:lpwstr/>
  </property>
  <property fmtid="{D5CDD505-2E9C-101B-9397-08002B2CF9AE}" pid="5" name="date">
    <vt:lpwstr>2026-03-16</vt:lpwstr>
  </property>
  <property fmtid="{D5CDD505-2E9C-101B-9397-08002B2CF9AE}" pid="6" name="editor">
    <vt:lpwstr>source</vt:lpwstr>
  </property>
  <property fmtid="{D5CDD505-2E9C-101B-9397-08002B2CF9AE}" pid="7" name="engines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subtitle">
    <vt:lpwstr>March 9 - March 14</vt:lpwstr>
  </property>
  <property fmtid="{D5CDD505-2E9C-101B-9397-08002B2CF9AE}" pid="14" name="toc-title">
    <vt:lpwstr>Table of contents</vt:lpwstr>
  </property>
</Properties>
</file>